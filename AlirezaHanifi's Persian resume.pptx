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260" y="-30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D8C6C36-478A-4BD3-A55F-F80D7A0B296B}" type="datetimeFigureOut">
              <a:rPr lang="fa-IR" smtClean="0"/>
              <a:t>1443/02/02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2421E3BB-9E13-44E8-9797-A9950B9BE424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5563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EC02-8FE7-491C-AA51-39BF7F4C055E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84875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E645-135B-4539-8BEA-B18EA22E3EEF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2392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DE02-14B9-4426-BEA9-59CC1A7D1067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6014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E100-CA11-4F82-B87C-E99638A1D31D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7585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800B-1DA7-4AB2-8779-5C5A0287C9B8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7086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1FF6-9701-414B-8325-1BD0E652E249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825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C2EE-D4EF-41ED-9769-802C065A677D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553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FFAE-84F7-4F9F-908F-DFEEB12FE2EB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24489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60DF-0E72-4D92-A6E6-A11F36A8B3BB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849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0DB7-BAE6-45B2-8EDF-BF1250E1A198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2949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ACB2-B5F7-4AAE-976C-7E0BF9E4ED77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139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A7E6E-ED37-42DF-86CF-B39BA2F7E8DF}" type="datetime8">
              <a:rPr lang="fa-IR" smtClean="0"/>
              <a:t>21/سپتامبر/9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a-IR" smtClean="0"/>
              <a:t>علیرضا حنیفی | رزومه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FBE4-DE7C-4F8C-AA65-2E74BDAE4A26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5139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dt="0"/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www.linkedin.com/in/Alireza-Hanif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mailto:hanifi1375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jpeg"/><Relationship Id="rId9" Type="http://schemas.openxmlformats.org/officeDocument/2006/relationships/hyperlink" Target="https://github.com/AlirezaHanif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850750"/>
              </p:ext>
            </p:extLst>
          </p:nvPr>
        </p:nvGraphicFramePr>
        <p:xfrm>
          <a:off x="140109" y="9606180"/>
          <a:ext cx="6577782" cy="274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192594">
                  <a:extLst>
                    <a:ext uri="{9D8B030D-6E8A-4147-A177-3AD203B41FA5}">
                      <a16:colId xmlns:a16="http://schemas.microsoft.com/office/drawing/2014/main" val="2491422414"/>
                    </a:ext>
                  </a:extLst>
                </a:gridCol>
                <a:gridCol w="2192594">
                  <a:extLst>
                    <a:ext uri="{9D8B030D-6E8A-4147-A177-3AD203B41FA5}">
                      <a16:colId xmlns:a16="http://schemas.microsoft.com/office/drawing/2014/main" val="3599614743"/>
                    </a:ext>
                  </a:extLst>
                </a:gridCol>
                <a:gridCol w="2192594">
                  <a:extLst>
                    <a:ext uri="{9D8B030D-6E8A-4147-A177-3AD203B41FA5}">
                      <a16:colId xmlns:a16="http://schemas.microsoft.com/office/drawing/2014/main" val="35783180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 rtl="1"/>
                      <a:r>
                        <a:rPr lang="fa-IR" sz="1200" b="0" dirty="0" smtClean="0">
                          <a:solidFill>
                            <a:srgbClr val="002060"/>
                          </a:solidFill>
                          <a:cs typeface="B Mitra" panose="00000400000000000000" pitchFamily="2" charset="-78"/>
                        </a:rPr>
                        <a:t>1</a:t>
                      </a:r>
                      <a:endParaRPr lang="fa-IR" sz="1200" b="0" dirty="0">
                        <a:solidFill>
                          <a:srgbClr val="002060"/>
                        </a:solidFill>
                        <a:cs typeface="B Mitra" panose="00000400000000000000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b="0" dirty="0" smtClean="0">
                          <a:solidFill>
                            <a:srgbClr val="002060"/>
                          </a:solidFill>
                          <a:cs typeface="B Mitra" panose="00000400000000000000" pitchFamily="2" charset="-78"/>
                        </a:rPr>
                        <a:t>علیرضا</a:t>
                      </a:r>
                      <a:r>
                        <a:rPr lang="fa-IR" sz="1200" b="0" baseline="0" dirty="0" smtClean="0">
                          <a:solidFill>
                            <a:srgbClr val="002060"/>
                          </a:solidFill>
                          <a:cs typeface="B Mitra" panose="00000400000000000000" pitchFamily="2" charset="-78"/>
                        </a:rPr>
                        <a:t> حنیفی   |   رزومه</a:t>
                      </a:r>
                      <a:endParaRPr lang="fa-IR" sz="1200" b="0" dirty="0">
                        <a:solidFill>
                          <a:srgbClr val="002060"/>
                        </a:solidFill>
                        <a:cs typeface="B Mitra" panose="00000400000000000000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fa-IR" sz="1200" b="0" dirty="0" smtClean="0">
                          <a:solidFill>
                            <a:srgbClr val="002060"/>
                          </a:solidFill>
                          <a:cs typeface="B Mitra" panose="00000400000000000000" pitchFamily="2" charset="-78"/>
                        </a:rPr>
                        <a:t>شهریور </a:t>
                      </a:r>
                      <a:r>
                        <a:rPr lang="fa-IR" sz="1200" b="0" dirty="0" smtClean="0">
                          <a:solidFill>
                            <a:srgbClr val="002060"/>
                          </a:solidFill>
                          <a:cs typeface="B Mitra" panose="00000400000000000000" pitchFamily="2" charset="-78"/>
                        </a:rPr>
                        <a:t>1400</a:t>
                      </a:r>
                      <a:endParaRPr lang="fa-IR" sz="1200" b="0" dirty="0">
                        <a:solidFill>
                          <a:srgbClr val="002060"/>
                        </a:solidFill>
                        <a:cs typeface="B Mitra" panose="00000400000000000000" pitchFamily="2" charset="-7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930356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0" y="1202815"/>
            <a:ext cx="6858000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9" name="Rectangle 38"/>
          <p:cNvSpPr/>
          <p:nvPr/>
        </p:nvSpPr>
        <p:spPr>
          <a:xfrm>
            <a:off x="0" y="-1"/>
            <a:ext cx="6858000" cy="1209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grpSp>
        <p:nvGrpSpPr>
          <p:cNvPr id="40" name="Group 39"/>
          <p:cNvGrpSpPr/>
          <p:nvPr/>
        </p:nvGrpSpPr>
        <p:grpSpPr>
          <a:xfrm>
            <a:off x="137160" y="1255079"/>
            <a:ext cx="1143000" cy="282770"/>
            <a:chOff x="274320" y="640080"/>
            <a:chExt cx="1143000" cy="282770"/>
          </a:xfrm>
        </p:grpSpPr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320" y="685800"/>
              <a:ext cx="128587" cy="18288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320040" y="640080"/>
              <a:ext cx="1097280" cy="28277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>
                <a:lnSpc>
                  <a:spcPct val="150000"/>
                </a:lnSpc>
              </a:pPr>
              <a:r>
                <a:rPr lang="en-US" sz="900" dirty="0" smtClean="0">
                  <a:latin typeface="Calibri" panose="020F0502020204030204" pitchFamily="34" charset="0"/>
                </a:rPr>
                <a:t>(+98) 938-3385818</a:t>
              </a:r>
              <a:endParaRPr lang="fa-IR" sz="900" dirty="0">
                <a:latin typeface="Calibri" panose="020F0502020204030204" pitchFamily="34" charset="0"/>
                <a:cs typeface="B Koodak" panose="00000700000000000000" pitchFamily="2" charset="-78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989320" y="1255079"/>
            <a:ext cx="868680" cy="282770"/>
            <a:chOff x="5760720" y="640080"/>
            <a:chExt cx="868680" cy="282770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0720" y="685800"/>
              <a:ext cx="134303" cy="18288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5806440" y="640080"/>
              <a:ext cx="822960" cy="28277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>
                <a:lnSpc>
                  <a:spcPct val="150000"/>
                </a:lnSpc>
              </a:pPr>
              <a:r>
                <a:rPr lang="en-US" sz="900" dirty="0" smtClean="0">
                  <a:latin typeface="Calibri" panose="020F0502020204030204" pitchFamily="34" charset="0"/>
                </a:rPr>
                <a:t>Tehran, Iran</a:t>
              </a:r>
              <a:endParaRPr lang="fa-IR" sz="900" dirty="0">
                <a:latin typeface="Calibri" panose="020F0502020204030204" pitchFamily="34" charset="0"/>
                <a:cs typeface="B Koodak" panose="00000700000000000000" pitchFamily="2" charset="-78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635306" y="39659"/>
            <a:ext cx="3587389" cy="1139016"/>
            <a:chOff x="1470111" y="39659"/>
            <a:chExt cx="3587389" cy="1139016"/>
          </a:xfrm>
        </p:grpSpPr>
        <p:sp>
          <p:nvSpPr>
            <p:cNvPr id="47" name="TextBox 46"/>
            <p:cNvSpPr txBox="1"/>
            <p:nvPr/>
          </p:nvSpPr>
          <p:spPr>
            <a:xfrm>
              <a:off x="2598547" y="196875"/>
              <a:ext cx="2458953" cy="81560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sz="3500" b="1" dirty="0" smtClean="0">
                  <a:latin typeface="Century Gothic" panose="020B0502020202020204" pitchFamily="34" charset="0"/>
                  <a:cs typeface="B Koodak" panose="00000700000000000000" pitchFamily="2" charset="-78"/>
                </a:rPr>
                <a:t>علیرضا حنیفی</a:t>
              </a:r>
              <a:endParaRPr lang="en-US" sz="3500" b="1" dirty="0" smtClean="0">
                <a:latin typeface="Century Gothic" panose="020B0502020202020204" pitchFamily="34" charset="0"/>
                <a:cs typeface="B Koodak" panose="00000700000000000000" pitchFamily="2" charset="-78"/>
              </a:endParaRPr>
            </a:p>
            <a:p>
              <a:pPr algn="ctr"/>
              <a:r>
                <a:rPr lang="en-US" sz="1200" dirty="0" smtClean="0">
                  <a:solidFill>
                    <a:srgbClr val="CAB202"/>
                  </a:solidFill>
                  <a:latin typeface="Century" panose="02040604050505020304" pitchFamily="18" charset="0"/>
                  <a:cs typeface="B Koodak" panose="00000700000000000000" pitchFamily="2" charset="-78"/>
                </a:rPr>
                <a:t> </a:t>
              </a:r>
              <a:r>
                <a:rPr lang="fa-IR" sz="1200" dirty="0" smtClean="0">
                  <a:solidFill>
                    <a:srgbClr val="CAB202"/>
                  </a:solidFill>
                  <a:latin typeface="Century" panose="02040604050505020304" pitchFamily="18" charset="0"/>
                  <a:cs typeface="B Koodak" panose="00000700000000000000" pitchFamily="2" charset="-78"/>
                </a:rPr>
                <a:t>  تحلیل‌گر داده</a:t>
              </a:r>
              <a:r>
                <a:rPr lang="en-US" sz="1200" dirty="0" smtClean="0">
                  <a:solidFill>
                    <a:srgbClr val="CAB202"/>
                  </a:solidFill>
                  <a:latin typeface="Century" panose="02040604050505020304" pitchFamily="18" charset="0"/>
                  <a:cs typeface="B Koodak" panose="00000700000000000000" pitchFamily="2" charset="-78"/>
                </a:rPr>
                <a:t>. </a:t>
              </a:r>
              <a:r>
                <a:rPr lang="fa-IR" sz="1200" dirty="0" smtClean="0">
                  <a:solidFill>
                    <a:srgbClr val="CAB202"/>
                  </a:solidFill>
                  <a:latin typeface="Century" panose="02040604050505020304" pitchFamily="18" charset="0"/>
                  <a:cs typeface="B Koodak" panose="00000700000000000000" pitchFamily="2" charset="-78"/>
                </a:rPr>
                <a:t>دانشمند داده</a:t>
              </a:r>
              <a:endParaRPr lang="fa-IR" sz="1200" dirty="0">
                <a:solidFill>
                  <a:srgbClr val="CAB202"/>
                </a:solidFill>
                <a:latin typeface="Century" panose="02040604050505020304" pitchFamily="18" charset="0"/>
                <a:cs typeface="B Koodak" panose="00000700000000000000" pitchFamily="2" charset="-78"/>
              </a:endParaRP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63" t="4616" r="11304" b="13916"/>
            <a:stretch/>
          </p:blipFill>
          <p:spPr>
            <a:xfrm>
              <a:off x="1470111" y="39659"/>
              <a:ext cx="1128861" cy="1139016"/>
            </a:xfrm>
            <a:prstGeom prst="ellipse">
              <a:avLst/>
            </a:prstGeom>
            <a:ln w="3175"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  <p:grpSp>
        <p:nvGrpSpPr>
          <p:cNvPr id="49" name="Group 48"/>
          <p:cNvGrpSpPr/>
          <p:nvPr/>
        </p:nvGrpSpPr>
        <p:grpSpPr>
          <a:xfrm>
            <a:off x="1280160" y="1255079"/>
            <a:ext cx="1463040" cy="282770"/>
            <a:chOff x="1280160" y="1255079"/>
            <a:chExt cx="1463040" cy="282770"/>
          </a:xfrm>
        </p:grpSpPr>
        <p:sp>
          <p:nvSpPr>
            <p:cNvPr id="50" name="Rectangle 49">
              <a:hlinkClick r:id="rId5"/>
            </p:cNvPr>
            <p:cNvSpPr/>
            <p:nvPr/>
          </p:nvSpPr>
          <p:spPr>
            <a:xfrm>
              <a:off x="1463040" y="1300799"/>
              <a:ext cx="1174652" cy="2319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1280160" y="1255079"/>
              <a:ext cx="1463040" cy="282770"/>
              <a:chOff x="1645920" y="640080"/>
              <a:chExt cx="1463040" cy="282770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1737360" y="640080"/>
                <a:ext cx="1371600" cy="28277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1">
                  <a:lnSpc>
                    <a:spcPct val="150000"/>
                  </a:lnSpc>
                </a:pPr>
                <a:r>
                  <a:rPr lang="en-US" sz="900" u="heavy" dirty="0" smtClean="0">
                    <a:uFill>
                      <a:solidFill>
                        <a:srgbClr val="FF0066"/>
                      </a:solidFill>
                    </a:uFill>
                    <a:latin typeface="Calibri" panose="020F0502020204030204" pitchFamily="34" charset="0"/>
                  </a:rPr>
                  <a:t>hanifi1375@yahoo.com</a:t>
                </a:r>
                <a:endParaRPr lang="fa-IR" sz="900" u="heavy" dirty="0">
                  <a:uFill>
                    <a:solidFill>
                      <a:srgbClr val="FF0066"/>
                    </a:solidFill>
                  </a:uFill>
                  <a:latin typeface="Calibri" panose="020F0502020204030204" pitchFamily="34" charset="0"/>
                  <a:cs typeface="B Koodak" panose="00000700000000000000" pitchFamily="2" charset="-78"/>
                </a:endParaRPr>
              </a:p>
            </p:txBody>
          </p:sp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45920" y="685800"/>
                <a:ext cx="182880" cy="182880"/>
              </a:xfrm>
              <a:prstGeom prst="rect">
                <a:avLst/>
              </a:prstGeom>
            </p:spPr>
          </p:pic>
        </p:grpSp>
      </p:grpSp>
      <p:grpSp>
        <p:nvGrpSpPr>
          <p:cNvPr id="54" name="Group 53"/>
          <p:cNvGrpSpPr/>
          <p:nvPr/>
        </p:nvGrpSpPr>
        <p:grpSpPr>
          <a:xfrm>
            <a:off x="2743200" y="1255079"/>
            <a:ext cx="1755648" cy="277705"/>
            <a:chOff x="2743200" y="1255079"/>
            <a:chExt cx="1755648" cy="277705"/>
          </a:xfrm>
        </p:grpSpPr>
        <p:sp>
          <p:nvSpPr>
            <p:cNvPr id="55" name="Rectangle 54">
              <a:hlinkClick r:id="rId7"/>
            </p:cNvPr>
            <p:cNvSpPr/>
            <p:nvPr/>
          </p:nvSpPr>
          <p:spPr>
            <a:xfrm>
              <a:off x="2928937" y="1346479"/>
              <a:ext cx="1507410" cy="186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2743200" y="1255079"/>
              <a:ext cx="1755648" cy="277705"/>
              <a:chOff x="2834640" y="640080"/>
              <a:chExt cx="1755648" cy="277705"/>
            </a:xfrm>
          </p:grpSpPr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34640" y="685800"/>
                <a:ext cx="185737" cy="182880"/>
              </a:xfrm>
              <a:prstGeom prst="rect">
                <a:avLst/>
              </a:prstGeom>
            </p:spPr>
          </p:pic>
          <p:sp>
            <p:nvSpPr>
              <p:cNvPr id="58" name="TextBox 57"/>
              <p:cNvSpPr txBox="1"/>
              <p:nvPr/>
            </p:nvSpPr>
            <p:spPr>
              <a:xfrm>
                <a:off x="2944368" y="640080"/>
                <a:ext cx="1645920" cy="27770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>
                <a:defPPr>
                  <a:defRPr lang="fa-IR"/>
                </a:defPPr>
                <a:lvl1pPr algn="ctr" rtl="1">
                  <a:lnSpc>
                    <a:spcPct val="150000"/>
                  </a:lnSpc>
                  <a:defRPr sz="900">
                    <a:latin typeface="Calibri" panose="020F0502020204030204" pitchFamily="34" charset="0"/>
                  </a:defRPr>
                </a:lvl1pPr>
              </a:lstStyle>
              <a:p>
                <a:r>
                  <a:rPr lang="en-US" u="heavy" dirty="0" smtClean="0">
                    <a:uFill>
                      <a:solidFill>
                        <a:srgbClr val="FF0066"/>
                      </a:solidFill>
                    </a:uFill>
                  </a:rPr>
                  <a:t>linkedin.com/in/Alireza-Hanifi</a:t>
                </a:r>
                <a:endParaRPr lang="fa-IR" u="heavy" dirty="0">
                  <a:uFill>
                    <a:solidFill>
                      <a:srgbClr val="FF0066"/>
                    </a:solidFill>
                  </a:uFill>
                </a:endParaRP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4526280" y="1255079"/>
            <a:ext cx="1490472" cy="282770"/>
            <a:chOff x="4526280" y="1255079"/>
            <a:chExt cx="1490472" cy="282770"/>
          </a:xfrm>
        </p:grpSpPr>
        <p:sp>
          <p:nvSpPr>
            <p:cNvPr id="60" name="Rectangle 59">
              <a:hlinkClick r:id="rId9"/>
            </p:cNvPr>
            <p:cNvSpPr/>
            <p:nvPr/>
          </p:nvSpPr>
          <p:spPr>
            <a:xfrm>
              <a:off x="4747846" y="1346479"/>
              <a:ext cx="1185706" cy="13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>
                <a:noFill/>
              </a:endParaRP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4526280" y="1255079"/>
              <a:ext cx="1490472" cy="282770"/>
              <a:chOff x="4480560" y="640080"/>
              <a:chExt cx="1490472" cy="282770"/>
            </a:xfrm>
          </p:grpSpPr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80560" y="685800"/>
                <a:ext cx="182880" cy="182880"/>
              </a:xfrm>
              <a:prstGeom prst="rect">
                <a:avLst/>
              </a:prstGeom>
            </p:spPr>
          </p:pic>
          <p:sp>
            <p:nvSpPr>
              <p:cNvPr id="63" name="TextBox 62"/>
              <p:cNvSpPr txBox="1"/>
              <p:nvPr/>
            </p:nvSpPr>
            <p:spPr>
              <a:xfrm>
                <a:off x="4599432" y="640080"/>
                <a:ext cx="1371600" cy="28277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1">
                  <a:lnSpc>
                    <a:spcPct val="150000"/>
                  </a:lnSpc>
                </a:pPr>
                <a:r>
                  <a:rPr lang="en-US" sz="900" u="heavy" dirty="0" smtClean="0">
                    <a:uFill>
                      <a:solidFill>
                        <a:srgbClr val="FF0066"/>
                      </a:solidFill>
                    </a:uFill>
                    <a:latin typeface="Calibri" panose="020F0502020204030204" pitchFamily="34" charset="0"/>
                  </a:rPr>
                  <a:t>github.com/AlirezaHanifi</a:t>
                </a:r>
                <a:endParaRPr lang="fa-IR" sz="900" u="heavy" dirty="0">
                  <a:uFill>
                    <a:solidFill>
                      <a:srgbClr val="FF0066"/>
                    </a:solidFill>
                  </a:uFill>
                  <a:latin typeface="Calibri" panose="020F0502020204030204" pitchFamily="34" charset="0"/>
                  <a:cs typeface="B Koodak" panose="00000700000000000000" pitchFamily="2" charset="-78"/>
                </a:endParaRPr>
              </a:p>
            </p:txBody>
          </p:sp>
        </p:grpSp>
      </p:grp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393610"/>
              </p:ext>
            </p:extLst>
          </p:nvPr>
        </p:nvGraphicFramePr>
        <p:xfrm>
          <a:off x="228601" y="1607331"/>
          <a:ext cx="6400798" cy="176022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924058">
                  <a:extLst>
                    <a:ext uri="{9D8B030D-6E8A-4147-A177-3AD203B41FA5}">
                      <a16:colId xmlns:a16="http://schemas.microsoft.com/office/drawing/2014/main" val="1758866349"/>
                    </a:ext>
                  </a:extLst>
                </a:gridCol>
                <a:gridCol w="135228">
                  <a:extLst>
                    <a:ext uri="{9D8B030D-6E8A-4147-A177-3AD203B41FA5}">
                      <a16:colId xmlns:a16="http://schemas.microsoft.com/office/drawing/2014/main" val="336716461"/>
                    </a:ext>
                  </a:extLst>
                </a:gridCol>
                <a:gridCol w="985234">
                  <a:extLst>
                    <a:ext uri="{9D8B030D-6E8A-4147-A177-3AD203B41FA5}">
                      <a16:colId xmlns:a16="http://schemas.microsoft.com/office/drawing/2014/main" val="3198940687"/>
                    </a:ext>
                  </a:extLst>
                </a:gridCol>
                <a:gridCol w="578095">
                  <a:extLst>
                    <a:ext uri="{9D8B030D-6E8A-4147-A177-3AD203B41FA5}">
                      <a16:colId xmlns:a16="http://schemas.microsoft.com/office/drawing/2014/main" val="2256068230"/>
                    </a:ext>
                  </a:extLst>
                </a:gridCol>
                <a:gridCol w="323426">
                  <a:extLst>
                    <a:ext uri="{9D8B030D-6E8A-4147-A177-3AD203B41FA5}">
                      <a16:colId xmlns:a16="http://schemas.microsoft.com/office/drawing/2014/main" val="3667680000"/>
                    </a:ext>
                  </a:extLst>
                </a:gridCol>
                <a:gridCol w="1410237">
                  <a:extLst>
                    <a:ext uri="{9D8B030D-6E8A-4147-A177-3AD203B41FA5}">
                      <a16:colId xmlns:a16="http://schemas.microsoft.com/office/drawing/2014/main" val="1332336151"/>
                    </a:ext>
                  </a:extLst>
                </a:gridCol>
                <a:gridCol w="785125">
                  <a:extLst>
                    <a:ext uri="{9D8B030D-6E8A-4147-A177-3AD203B41FA5}">
                      <a16:colId xmlns:a16="http://schemas.microsoft.com/office/drawing/2014/main" val="2544081929"/>
                    </a:ext>
                  </a:extLst>
                </a:gridCol>
                <a:gridCol w="1259395">
                  <a:extLst>
                    <a:ext uri="{9D8B030D-6E8A-4147-A177-3AD203B41FA5}">
                      <a16:colId xmlns:a16="http://schemas.microsoft.com/office/drawing/2014/main" val="2603293168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800" b="1" dirty="0" smtClean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B Roya" panose="00000400000000000000" pitchFamily="2" charset="-78"/>
                        </a:rPr>
                        <a:t>دربارۀ</a:t>
                      </a:r>
                      <a:r>
                        <a:rPr lang="fa-IR" sz="1800" b="1" baseline="0" dirty="0" smtClean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cs typeface="B Roya" panose="00000400000000000000" pitchFamily="2" charset="-78"/>
                        </a:rPr>
                        <a:t> من</a:t>
                      </a:r>
                      <a:endParaRPr lang="fa-IR" sz="1800" b="1" dirty="0">
                        <a:solidFill>
                          <a:srgbClr val="0070C0"/>
                        </a:solidFill>
                        <a:latin typeface="Century Gothic" panose="020B0502020202020204" pitchFamily="34" charset="0"/>
                        <a:cs typeface="B Roya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31964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 rtl="1"/>
                      <a:endParaRPr lang="fa-I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rtl="1"/>
                      <a:endParaRPr lang="fa-IR" sz="2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4614317"/>
                  </a:ext>
                </a:extLst>
              </a:tr>
              <a:tr h="822960">
                <a:tc gridSpan="8">
                  <a:txBody>
                    <a:bodyPr/>
                    <a:lstStyle/>
                    <a:p>
                      <a:pPr algn="just" rtl="1"/>
                      <a:r>
                        <a:rPr lang="fa-IR" sz="1200" dirty="0" smtClean="0"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فار‌غ‌التحصیل مهندسی مکانیک از دانشگاه صنعتی اصفهان هستم. به واسطۀ کار با داده‌های آزمایشگاهی به علم داده و تحلیل آن‌ها علاقمند شدم. فعالیت در زمینه‌های مالی و اهمیت کلان‌داده‌ها، بیش از پیش، مرا به یادگیری داده‌ها و تحلیل آن‌ها سوق داد. هم‌اکنون نیز به یادگیری و مطالعات شخصی در این حوزه مشغولم و بی‌اندازه مشتاق به دست آوردن کار و اندوختن تجربه در حوزه هوش مصنوعی و علوم داده هستم.</a:t>
                      </a:r>
                      <a:endParaRPr lang="fa-IR" sz="1200" dirty="0"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696126"/>
                  </a:ext>
                </a:extLst>
              </a:tr>
              <a:tr h="182880">
                <a:tc gridSpan="3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b="1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علایق کاری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rtl="1"/>
                      <a:endParaRPr lang="fa-IR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176296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یادگیری ماشین</a:t>
                      </a:r>
                      <a:endParaRPr lang="fa-IR" sz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endParaRPr lang="fa-IR" sz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یادگیری عمیق</a:t>
                      </a:r>
                      <a:endParaRPr lang="fa-IR" sz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بینایی ماشین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91440" indent="-91440" algn="l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پردازش زبان‌های طبیعی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B Nazanin" panose="00000400000000000000" pitchFamily="2" charset="-78"/>
                        </a:rPr>
                        <a:t>فناوری مالی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91440" indent="-91440" algn="l">
                        <a:buFont typeface="Arial" panose="020B0604020202020204" pitchFamily="34" charset="0"/>
                        <a:buChar char="•"/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6803423"/>
                  </a:ext>
                </a:extLst>
              </a:tr>
            </a:tbl>
          </a:graphicData>
        </a:graphic>
      </p:graphicFrame>
      <p:graphicFrame>
        <p:nvGraphicFramePr>
          <p:cNvPr id="6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58928"/>
              </p:ext>
            </p:extLst>
          </p:nvPr>
        </p:nvGraphicFramePr>
        <p:xfrm>
          <a:off x="228600" y="3406307"/>
          <a:ext cx="6400801" cy="23164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891863">
                  <a:extLst>
                    <a:ext uri="{9D8B030D-6E8A-4147-A177-3AD203B41FA5}">
                      <a16:colId xmlns:a16="http://schemas.microsoft.com/office/drawing/2014/main" val="1758866349"/>
                    </a:ext>
                  </a:extLst>
                </a:gridCol>
                <a:gridCol w="1640699">
                  <a:extLst>
                    <a:ext uri="{9D8B030D-6E8A-4147-A177-3AD203B41FA5}">
                      <a16:colId xmlns:a16="http://schemas.microsoft.com/office/drawing/2014/main" val="3262768634"/>
                    </a:ext>
                  </a:extLst>
                </a:gridCol>
                <a:gridCol w="1289413">
                  <a:extLst>
                    <a:ext uri="{9D8B030D-6E8A-4147-A177-3AD203B41FA5}">
                      <a16:colId xmlns:a16="http://schemas.microsoft.com/office/drawing/2014/main" val="3667680000"/>
                    </a:ext>
                  </a:extLst>
                </a:gridCol>
                <a:gridCol w="1158930">
                  <a:extLst>
                    <a:ext uri="{9D8B030D-6E8A-4147-A177-3AD203B41FA5}">
                      <a16:colId xmlns:a16="http://schemas.microsoft.com/office/drawing/2014/main" val="2106253107"/>
                    </a:ext>
                  </a:extLst>
                </a:gridCol>
                <a:gridCol w="1419896">
                  <a:extLst>
                    <a:ext uri="{9D8B030D-6E8A-4147-A177-3AD203B41FA5}">
                      <a16:colId xmlns:a16="http://schemas.microsoft.com/office/drawing/2014/main" val="85751428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800" b="1" kern="1200" dirty="0" smtClean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ea typeface="+mn-ea"/>
                          <a:cs typeface="B Roya" panose="00000400000000000000" pitchFamily="2" charset="-78"/>
                        </a:rPr>
                        <a:t>تحصیلات</a:t>
                      </a:r>
                      <a:endParaRPr lang="fa-IR" sz="1800" b="1" kern="1200" dirty="0">
                        <a:solidFill>
                          <a:srgbClr val="0070C0"/>
                        </a:solidFill>
                        <a:latin typeface="Century Gothic" panose="020B0502020202020204" pitchFamily="34" charset="0"/>
                        <a:ea typeface="+mn-ea"/>
                        <a:cs typeface="B Roya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3196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rtl="1"/>
                      <a:endParaRPr lang="fa-I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4614317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marL="0" marR="0" indent="0" algn="r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b="1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دانشگاه صنعتی اصفهان</a:t>
                      </a:r>
                      <a:endParaRPr lang="fa-IR" sz="1200" b="1" i="0" kern="120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a-IR" sz="1100" b="0" i="0" kern="1200" dirty="0" smtClean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B Lotus" panose="00000400000000000000" pitchFamily="2" charset="-78"/>
                        </a:rPr>
                        <a:t>اصفهان، ایران</a:t>
                      </a:r>
                      <a:endParaRPr lang="fa-IR" sz="1100" b="0" dirty="0">
                        <a:solidFill>
                          <a:srgbClr val="0070C0"/>
                        </a:solidFill>
                        <a:latin typeface="Candara" panose="020E0502030303020204" pitchFamily="34" charset="0"/>
                        <a:cs typeface="B Lotus" panose="00000400000000000000" pitchFamily="2" charset="-78"/>
                      </a:endParaRPr>
                    </a:p>
                    <a:p>
                      <a:pPr algn="ctr" rtl="1"/>
                      <a:r>
                        <a:rPr lang="fa-IR" sz="95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B Lotus" panose="00000400000000000000" pitchFamily="2" charset="-78"/>
                        </a:rPr>
                        <a:t>شهریور 1394 تا بهمن 1398</a:t>
                      </a:r>
                      <a:endParaRPr lang="fa-IR" sz="950" b="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B Lotus" panose="00000400000000000000" pitchFamily="2" charset="-78"/>
                      </a:endParaRPr>
                    </a:p>
                  </a:txBody>
                  <a:tcPr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696126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r" rtl="1"/>
                      <a:r>
                        <a:rPr lang="fa-IR" sz="95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B Lotus" panose="00000400000000000000" pitchFamily="2" charset="-78"/>
                        </a:rPr>
                        <a:t>مقطع کارشناسی</a:t>
                      </a:r>
                      <a:r>
                        <a:rPr lang="fa-IR" sz="950" b="0" kern="12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B Lotus" panose="00000400000000000000" pitchFamily="2" charset="-78"/>
                        </a:rPr>
                        <a:t> در مهندسی مکانیک</a:t>
                      </a:r>
                      <a:endParaRPr lang="fa-IR" sz="950" b="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B Lotus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95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2955752"/>
                  </a:ext>
                </a:extLst>
              </a:tr>
              <a:tr h="457200">
                <a:tc gridSpan="4">
                  <a:txBody>
                    <a:bodyPr/>
                    <a:lstStyle/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یکی از پنج دانشگاه برتر کشور.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91440" indent="-91440" algn="just" rtl="1">
                        <a:buFont typeface="Arial" panose="020B0604020202020204" pitchFamily="34" charset="0"/>
                        <a:buChar char="•"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نمرات بعضی از دروس: مبانی برنامه‌نویسی (16.2/۲۰)، ریاضی عمومی یک(18.9/۲۰)، ریاضی عمومی دو(18.3/۲۰)، معادلات دیفرانسیل(18.5/۲۰) و ریاضی مهندسی(17/۲۰).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95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65902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a-IR" sz="200" b="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0" marR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fa-IR" sz="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5314973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b="1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دبیرستان علامه حلی</a:t>
                      </a:r>
                      <a:endParaRPr lang="fa-IR" sz="1200" b="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b="0" i="0" kern="1200" dirty="0" smtClean="0">
                          <a:solidFill>
                            <a:srgbClr val="0070C0"/>
                          </a:solidFill>
                          <a:effectLst/>
                          <a:latin typeface="Candara" panose="020E0502030303020204" pitchFamily="34" charset="0"/>
                          <a:ea typeface="+mn-ea"/>
                          <a:cs typeface="B Lotus" panose="00000400000000000000" pitchFamily="2" charset="-78"/>
                        </a:rPr>
                        <a:t>تهران، ایران</a:t>
                      </a:r>
                      <a:endParaRPr lang="en-US" sz="1100" b="0" i="0" kern="1200" dirty="0" smtClean="0">
                        <a:solidFill>
                          <a:srgbClr val="0070C0"/>
                        </a:solidFill>
                        <a:effectLst/>
                        <a:latin typeface="Candara" panose="020E0502030303020204" pitchFamily="34" charset="0"/>
                        <a:ea typeface="+mn-ea"/>
                        <a:cs typeface="B Lotus" panose="00000400000000000000" pitchFamily="2" charset="-78"/>
                      </a:endParaRPr>
                    </a:p>
                    <a:p>
                      <a:pPr marL="0" marR="0" indent="0" algn="ct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95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B Lotus" panose="00000400000000000000" pitchFamily="2" charset="-78"/>
                        </a:rPr>
                        <a:t>مهر 1390 تا شهریور 1394</a:t>
                      </a:r>
                      <a:endParaRPr lang="fa-IR" sz="950" b="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B Lotus" panose="00000400000000000000" pitchFamily="2" charset="-78"/>
                      </a:endParaRPr>
                    </a:p>
                  </a:txBody>
                  <a:tcPr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638941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indent="0" algn="r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95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B Lotus" panose="00000400000000000000" pitchFamily="2" charset="-78"/>
                        </a:rPr>
                        <a:t>دیپلم ریاضی و فیزیکی</a:t>
                      </a:r>
                      <a:endParaRPr lang="fa-IR" sz="950" b="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B Lotus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85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1828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82175"/>
                  </a:ext>
                </a:extLst>
              </a:tr>
              <a:tr h="182880">
                <a:tc gridSpan="4">
                  <a:txBody>
                    <a:bodyPr/>
                    <a:lstStyle/>
                    <a:p>
                      <a:pPr marL="91440" marR="0" indent="-91440" algn="just" defTabSz="6858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B Nazanin" panose="00000400000000000000" pitchFamily="2" charset="-78"/>
                        </a:rPr>
                        <a:t>وابسته به سازمان ملی پرورش استعدادهای درخشان.</a:t>
                      </a:r>
                      <a:endParaRPr lang="fa-IR" sz="1200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85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ndara" panose="020E0502030303020204" pitchFamily="34" charset="0"/>
                      </a:endParaRPr>
                    </a:p>
                  </a:txBody>
                  <a:tcPr marT="1828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9412765"/>
                  </a:ext>
                </a:extLst>
              </a:tr>
            </a:tbl>
          </a:graphicData>
        </a:graphic>
      </p:graphicFrame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794631"/>
              </p:ext>
            </p:extLst>
          </p:nvPr>
        </p:nvGraphicFramePr>
        <p:xfrm>
          <a:off x="228600" y="5762875"/>
          <a:ext cx="6400801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4820">
                  <a:extLst>
                    <a:ext uri="{9D8B030D-6E8A-4147-A177-3AD203B41FA5}">
                      <a16:colId xmlns:a16="http://schemas.microsoft.com/office/drawing/2014/main" val="1758866349"/>
                    </a:ext>
                  </a:extLst>
                </a:gridCol>
                <a:gridCol w="1157742">
                  <a:extLst>
                    <a:ext uri="{9D8B030D-6E8A-4147-A177-3AD203B41FA5}">
                      <a16:colId xmlns:a16="http://schemas.microsoft.com/office/drawing/2014/main" val="3262768634"/>
                    </a:ext>
                  </a:extLst>
                </a:gridCol>
                <a:gridCol w="1289413">
                  <a:extLst>
                    <a:ext uri="{9D8B030D-6E8A-4147-A177-3AD203B41FA5}">
                      <a16:colId xmlns:a16="http://schemas.microsoft.com/office/drawing/2014/main" val="3667680000"/>
                    </a:ext>
                  </a:extLst>
                </a:gridCol>
                <a:gridCol w="1311620">
                  <a:extLst>
                    <a:ext uri="{9D8B030D-6E8A-4147-A177-3AD203B41FA5}">
                      <a16:colId xmlns:a16="http://schemas.microsoft.com/office/drawing/2014/main" val="2106253107"/>
                    </a:ext>
                  </a:extLst>
                </a:gridCol>
                <a:gridCol w="1267206">
                  <a:extLst>
                    <a:ext uri="{9D8B030D-6E8A-4147-A177-3AD203B41FA5}">
                      <a16:colId xmlns:a16="http://schemas.microsoft.com/office/drawing/2014/main" val="2603293168"/>
                    </a:ext>
                  </a:extLst>
                </a:gridCol>
              </a:tblGrid>
              <a:tr h="192765">
                <a:tc>
                  <a:txBody>
                    <a:bodyPr/>
                    <a:lstStyle/>
                    <a:p>
                      <a:pPr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800" b="1" kern="1200" dirty="0" smtClean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ea typeface="+mn-ea"/>
                          <a:cs typeface="B Roya" panose="00000400000000000000" pitchFamily="2" charset="-78"/>
                        </a:rPr>
                        <a:t>دوره‌های برخط</a:t>
                      </a:r>
                      <a:endParaRPr lang="fa-IR" sz="1800" b="1" kern="1200" dirty="0">
                        <a:solidFill>
                          <a:srgbClr val="0070C0"/>
                        </a:solidFill>
                        <a:latin typeface="Century Gothic" panose="020B0502020202020204" pitchFamily="34" charset="0"/>
                        <a:ea typeface="+mn-ea"/>
                        <a:cs typeface="B Roya" panose="00000400000000000000" pitchFamily="2" charset="-78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319646"/>
                  </a:ext>
                </a:extLst>
              </a:tr>
              <a:tr h="192765">
                <a:tc gridSpan="2">
                  <a:txBody>
                    <a:bodyPr/>
                    <a:lstStyle/>
                    <a:p>
                      <a:pPr rtl="1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4614317"/>
                  </a:ext>
                </a:extLst>
              </a:tr>
              <a:tr h="252078">
                <a:tc gridSpan="5">
                  <a:txBody>
                    <a:bodyPr/>
                    <a:lstStyle/>
                    <a:p>
                      <a:pPr marL="91440" marR="0" indent="-9144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Probability and Statistics in Engineering by Sharifi-Zarchi </a:t>
                      </a:r>
                      <a:r>
                        <a:rPr lang="en-US" sz="80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(in Maktabkhooneh.org). 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[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Auditing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]</a:t>
                      </a:r>
                      <a:endParaRPr lang="fa-IR" sz="800" b="0" kern="1200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Meiryo UI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1320759" rtl="0" eaLnBrk="1" latinLnBrk="0" hangingPunct="1"/>
                      <a:endParaRPr lang="fa-IR" sz="9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2508517"/>
                  </a:ext>
                </a:extLst>
              </a:tr>
              <a:tr h="252078">
                <a:tc gridSpan="5">
                  <a:txBody>
                    <a:bodyPr/>
                    <a:lstStyle/>
                    <a:p>
                      <a:pPr marL="91440" marR="0" indent="-9144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Introduction to SQL </a:t>
                      </a:r>
                      <a:r>
                        <a:rPr lang="en-US" sz="80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(in datacamp.com). 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[</a:t>
                      </a:r>
                      <a:r>
                        <a:rPr lang="en-US" sz="800" b="0" u="heavy" kern="1200" baseline="0" dirty="0" smtClean="0">
                          <a:solidFill>
                            <a:schemeClr val="tx1"/>
                          </a:solidFill>
                          <a:uFill>
                            <a:solidFill>
                              <a:srgbClr val="FF0066"/>
                            </a:solidFill>
                          </a:u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Certification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]</a:t>
                      </a:r>
                      <a:endParaRPr lang="fa-IR" sz="800" b="0" kern="1200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Meiryo UI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900" b="0" u="heavy" kern="1200" baseline="0" dirty="0">
                        <a:solidFill>
                          <a:schemeClr val="tx1"/>
                        </a:solidFill>
                        <a:uFill>
                          <a:solidFill>
                            <a:srgbClr val="FF0066"/>
                          </a:solidFill>
                        </a:u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617609"/>
                  </a:ext>
                </a:extLst>
              </a:tr>
              <a:tr h="252078">
                <a:tc gridSpan="5">
                  <a:txBody>
                    <a:bodyPr/>
                    <a:lstStyle/>
                    <a:p>
                      <a:pPr marL="91440" marR="0" indent="-9144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AI For Everyone by Andrew Ng </a:t>
                      </a:r>
                      <a:r>
                        <a:rPr lang="en-US" sz="80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(in Coursera.org). 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[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Auditing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]</a:t>
                      </a:r>
                      <a:endParaRPr lang="fa-IR" sz="800" b="0" kern="1200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Meiryo UI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9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7823111"/>
                  </a:ext>
                </a:extLst>
              </a:tr>
              <a:tr h="252078">
                <a:tc gridSpan="5">
                  <a:txBody>
                    <a:bodyPr/>
                    <a:lstStyle/>
                    <a:p>
                      <a:pPr marL="91440" marR="0" indent="-9144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Machine Learning by Andrew Ng </a:t>
                      </a:r>
                      <a:r>
                        <a:rPr lang="en-US" sz="80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(in Coursera.org). 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[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Auditing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]</a:t>
                      </a:r>
                      <a:endParaRPr lang="fa-IR" sz="800" b="0" kern="1200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Meiryo UI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9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696126"/>
                  </a:ext>
                </a:extLst>
              </a:tr>
              <a:tr h="252078">
                <a:tc gridSpan="5">
                  <a:txBody>
                    <a:bodyPr/>
                    <a:lstStyle/>
                    <a:p>
                      <a:pPr marL="91440" marR="0" indent="-9144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Deep Learning Specialization by Andrew Ng </a:t>
                      </a:r>
                      <a:r>
                        <a:rPr lang="en-US" sz="800" b="0" kern="12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(in Coursera.org). 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[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latin typeface="Candara" panose="020E0502030303020204" pitchFamily="34" charset="0"/>
                          <a:ea typeface="+mn-ea"/>
                          <a:cs typeface="+mn-cs"/>
                        </a:rPr>
                        <a:t>In progress</a:t>
                      </a:r>
                      <a:r>
                        <a:rPr lang="en-US" sz="800" b="0" kern="1200" dirty="0" smtClean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Meiryo UI" panose="020B0604030504040204" pitchFamily="34" charset="-128"/>
                        </a:rPr>
                        <a:t>]</a:t>
                      </a:r>
                      <a:endParaRPr lang="fa-IR" sz="800" b="0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algn="ctr" defTabSz="1320759" rtl="0" eaLnBrk="1" latinLnBrk="0" hangingPunct="1"/>
                      <a:endParaRPr lang="fa-IR" sz="9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2955752"/>
                  </a:ext>
                </a:extLst>
              </a:tr>
            </a:tbl>
          </a:graphicData>
        </a:graphic>
      </p:graphicFrame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769161"/>
              </p:ext>
            </p:extLst>
          </p:nvPr>
        </p:nvGraphicFramePr>
        <p:xfrm>
          <a:off x="228600" y="7494603"/>
          <a:ext cx="6400801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0234">
                  <a:extLst>
                    <a:ext uri="{9D8B030D-6E8A-4147-A177-3AD203B41FA5}">
                      <a16:colId xmlns:a16="http://schemas.microsoft.com/office/drawing/2014/main" val="1758866349"/>
                    </a:ext>
                  </a:extLst>
                </a:gridCol>
                <a:gridCol w="2537612">
                  <a:extLst>
                    <a:ext uri="{9D8B030D-6E8A-4147-A177-3AD203B41FA5}">
                      <a16:colId xmlns:a16="http://schemas.microsoft.com/office/drawing/2014/main" val="1743973046"/>
                    </a:ext>
                  </a:extLst>
                </a:gridCol>
                <a:gridCol w="1758664">
                  <a:extLst>
                    <a:ext uri="{9D8B030D-6E8A-4147-A177-3AD203B41FA5}">
                      <a16:colId xmlns:a16="http://schemas.microsoft.com/office/drawing/2014/main" val="2106253107"/>
                    </a:ext>
                  </a:extLst>
                </a:gridCol>
                <a:gridCol w="774291">
                  <a:extLst>
                    <a:ext uri="{9D8B030D-6E8A-4147-A177-3AD203B41FA5}">
                      <a16:colId xmlns:a16="http://schemas.microsoft.com/office/drawing/2014/main" val="2603293168"/>
                    </a:ext>
                  </a:extLst>
                </a:gridCol>
              </a:tblGrid>
              <a:tr h="188686"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defTabSz="1320759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800" b="1" kern="1200" dirty="0" smtClean="0">
                          <a:solidFill>
                            <a:srgbClr val="0070C0"/>
                          </a:solidFill>
                          <a:latin typeface="Century Gothic" panose="020B0502020202020204" pitchFamily="34" charset="0"/>
                          <a:ea typeface="+mn-ea"/>
                          <a:cs typeface="B Roya" panose="00000400000000000000" pitchFamily="2" charset="-78"/>
                        </a:rPr>
                        <a:t>مهارت‌ها</a:t>
                      </a:r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6319646"/>
                  </a:ext>
                </a:extLst>
              </a:tr>
              <a:tr h="188686">
                <a:tc gridSpan="2"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R w="12700" cmpd="sng">
                      <a:noFill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rtl="0"/>
                      <a:endParaRPr lang="fa-IR" sz="700" dirty="0"/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461431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marR="0" indent="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Data Science: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Python3 </a:t>
                      </a:r>
                      <a:r>
                        <a:rPr lang="en-US" sz="105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(scikit-learn, Pandas, NumPy, Matplotlib)</a:t>
                      </a: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, SQL, Machine Learning, Deep Learning. </a:t>
                      </a:r>
                      <a:endParaRPr lang="fa-IR" sz="1100" b="0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1320759" rtl="0" eaLnBrk="1" latinLnBrk="0" hangingPunct="1"/>
                      <a:endParaRPr lang="fa-IR" sz="12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2508517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marR="0" indent="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Tools: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just" rtl="0" fontAlgn="auto"/>
                      <a:r>
                        <a:rPr lang="en-US" sz="1100" dirty="0" smtClean="0">
                          <a:latin typeface="Calibri Light" panose="020F0302020204030204" pitchFamily="34" charset="0"/>
                        </a:rPr>
                        <a:t>Git, </a:t>
                      </a:r>
                      <a:r>
                        <a:rPr lang="en-US" sz="1100" b="0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Microsoft Excel, Microsoft Word, Microsoft PowerPoint,</a:t>
                      </a: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 Adobe Premiere Pro.</a:t>
                      </a:r>
                      <a:endParaRPr lang="fa-IR" sz="1100" dirty="0">
                        <a:latin typeface="Calibri Light" panose="020F0302020204030204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200" b="0" u="heavy" kern="1200" baseline="0" dirty="0">
                        <a:solidFill>
                          <a:srgbClr val="0070C0"/>
                        </a:solidFill>
                        <a:uFill>
                          <a:solidFill>
                            <a:srgbClr val="FFC000"/>
                          </a:solidFill>
                        </a:u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1617609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marR="0" indent="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Operating Systems</a:t>
                      </a:r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: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just" rtl="0"/>
                      <a:r>
                        <a:rPr lang="en-US" sz="1100" b="0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Windows.</a:t>
                      </a:r>
                      <a:endParaRPr lang="fa-IR" sz="1100" dirty="0">
                        <a:latin typeface="Calibri Light" panose="020F0302020204030204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2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782311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indent="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Soft Skills: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just" rtl="0"/>
                      <a:r>
                        <a:rPr lang="en-US" sz="1100" dirty="0" smtClean="0">
                          <a:latin typeface="Calibri Light" panose="020F0302020204030204" pitchFamily="34" charset="0"/>
                        </a:rPr>
                        <a:t>Teamwork, Easily Adaptable, Critical Thinking, Writing Skills, Presentation Skills, Report Writing, Self-Management, Self-Awareness, Responsibility.</a:t>
                      </a:r>
                      <a:endParaRPr lang="fa-IR" sz="1100" dirty="0">
                        <a:latin typeface="Calibri Light" panose="020F0302020204030204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95000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 marL="0" marR="0" indent="0" algn="l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Languages</a:t>
                      </a:r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:</a:t>
                      </a:r>
                      <a:endParaRPr lang="fa-IR" sz="1200" b="1" kern="1200" dirty="0">
                        <a:solidFill>
                          <a:schemeClr val="tx1"/>
                        </a:solidFill>
                        <a:latin typeface="Calibri Light" panose="020F0302020204030204" pitchFamily="34" charset="0"/>
                        <a:ea typeface="+mn-ea"/>
                        <a:cs typeface="+mn-cs"/>
                      </a:endParaRPr>
                    </a:p>
                  </a:txBody>
                  <a:tcPr marR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just" rtl="0"/>
                      <a:r>
                        <a:rPr lang="en-US" sz="1100" b="0" i="0" kern="1200" dirty="0" smtClean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+mn-cs"/>
                        </a:rPr>
                        <a:t>English(Fluent), Persian(Native).</a:t>
                      </a:r>
                      <a:r>
                        <a:rPr lang="en-US" sz="1100" dirty="0" smtClean="0">
                          <a:latin typeface="Calibri Light" panose="020F0302020204030204" pitchFamily="34" charset="0"/>
                        </a:rPr>
                        <a:t> </a:t>
                      </a:r>
                      <a:endParaRPr lang="fa-IR" sz="1100" dirty="0">
                        <a:latin typeface="Calibri Light" panose="020F0302020204030204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fa-IR" sz="1000" dirty="0">
                        <a:latin typeface="Calibri Light" panose="020F03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3207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2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ndara" panose="020E0502030303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69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54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574</TotalTime>
  <Words>329</Words>
  <Application>Microsoft Office PowerPoint</Application>
  <PresentationFormat>A4 Paper (210x297 mm)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Meiryo UI</vt:lpstr>
      <vt:lpstr>Arial</vt:lpstr>
      <vt:lpstr>B Koodak</vt:lpstr>
      <vt:lpstr>B Lotus</vt:lpstr>
      <vt:lpstr>B Mitra</vt:lpstr>
      <vt:lpstr>B Nazanin</vt:lpstr>
      <vt:lpstr>B Roya</vt:lpstr>
      <vt:lpstr>Calibri</vt:lpstr>
      <vt:lpstr>Calibri Light</vt:lpstr>
      <vt:lpstr>Candara</vt:lpstr>
      <vt:lpstr>Century</vt:lpstr>
      <vt:lpstr>Century Gothic</vt:lpstr>
      <vt:lpstr>Office Theme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RePack by Diakov</dc:creator>
  <cp:lastModifiedBy>RePack by Diakov</cp:lastModifiedBy>
  <cp:revision>39</cp:revision>
  <dcterms:created xsi:type="dcterms:W3CDTF">2021-03-20T13:04:14Z</dcterms:created>
  <dcterms:modified xsi:type="dcterms:W3CDTF">2021-09-09T05:39:32Z</dcterms:modified>
</cp:coreProperties>
</file>